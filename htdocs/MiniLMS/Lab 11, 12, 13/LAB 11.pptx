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notesMasterIdLst>
    <p:notesMasterId r:id="rId19"/>
  </p:notesMasterIdLst>
  <p:sldIdLst>
    <p:sldId id="257" r:id="rId2"/>
    <p:sldId id="256" r:id="rId3"/>
    <p:sldId id="259" r:id="rId4"/>
    <p:sldId id="314" r:id="rId5"/>
    <p:sldId id="258" r:id="rId6"/>
    <p:sldId id="316" r:id="rId7"/>
    <p:sldId id="321" r:id="rId8"/>
    <p:sldId id="322" r:id="rId9"/>
    <p:sldId id="317" r:id="rId10"/>
    <p:sldId id="318" r:id="rId11"/>
    <p:sldId id="315" r:id="rId12"/>
    <p:sldId id="260" r:id="rId13"/>
    <p:sldId id="261" r:id="rId14"/>
    <p:sldId id="313" r:id="rId15"/>
    <p:sldId id="319" r:id="rId16"/>
    <p:sldId id="323" r:id="rId17"/>
    <p:sldId id="30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c 180203360" initials="B1" lastIdx="1" clrIdx="0">
    <p:extLst>
      <p:ext uri="{19B8F6BF-5375-455C-9EA6-DF929625EA0E}">
        <p15:presenceInfo xmlns:p15="http://schemas.microsoft.com/office/powerpoint/2012/main" userId="5ad820998df6e31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59" autoAdjust="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00168-E416-4387-A242-67F5A1B1E854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7D761-22B5-4FA6-A03C-58323A6AD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4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82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 guys have studied about</a:t>
            </a:r>
            <a:r>
              <a:rPr lang="en-US" baseline="0" dirty="0" smtClean="0"/>
              <a:t> it in the 4 </a:t>
            </a:r>
            <a:r>
              <a:rPr lang="en-US" baseline="0" dirty="0" err="1" smtClean="0"/>
              <a:t>th</a:t>
            </a:r>
            <a:r>
              <a:rPr lang="en-US" baseline="0" dirty="0" smtClean="0"/>
              <a:t> lecture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41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08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10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75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46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61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09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31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17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06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25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53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80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61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96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2185-6DB8-C305-7F92-19511CF8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49A02-0907-9F9D-A65A-800CA658E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69303-A868-85ED-D29D-EF8DCD2E5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C6BFE-8711-B7E8-F3A4-930FDAFF6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7D761-22B5-4FA6-A03C-58323A6AD6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3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2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2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42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1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5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1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57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0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43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20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2765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46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94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5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56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4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D1F036A-69A6-4FA3-8F7C-B27BFCD69365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C0E43BC-25AC-4A69-B8BC-D702F6861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48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phpmyadmi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F0A0FE-1F9F-4FB0-0838-381F6CBABDF1}"/>
              </a:ext>
            </a:extLst>
          </p:cNvPr>
          <p:cNvSpPr/>
          <p:nvPr/>
        </p:nvSpPr>
        <p:spPr>
          <a:xfrm>
            <a:off x="-3048" y="0"/>
            <a:ext cx="3321698" cy="68577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1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AC2F4-2E34-9098-BC73-6DE0EA593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1663"/>
            <a:ext cx="3332888" cy="34999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 engineering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0F872EA-1EBF-E07B-F5C2-67126BC9E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2658" y="2117453"/>
            <a:ext cx="9144000" cy="262309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C000"/>
                </a:solidFill>
                <a:latin typeface="+mj-lt"/>
                <a:cs typeface="Times New Roman" panose="02020603050405020304" pitchFamily="18" charset="0"/>
              </a:rPr>
              <a:t>LAB </a:t>
            </a:r>
            <a:r>
              <a:rPr lang="en-US" sz="3600" b="1" dirty="0" smtClean="0">
                <a:solidFill>
                  <a:srgbClr val="FFC000"/>
                </a:solidFill>
                <a:latin typeface="+mj-lt"/>
                <a:cs typeface="Times New Roman" panose="02020603050405020304" pitchFamily="18" charset="0"/>
              </a:rPr>
              <a:t>11</a:t>
            </a:r>
            <a:endParaRPr lang="en-US" sz="3600" b="1" dirty="0">
              <a:solidFill>
                <a:srgbClr val="FFC00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FFC000"/>
                </a:solidFill>
                <a:latin typeface="+mj-lt"/>
                <a:cs typeface="Times New Roman" panose="02020603050405020304" pitchFamily="18" charset="0"/>
              </a:rPr>
              <a:t>26-nov-2025</a:t>
            </a:r>
            <a:endParaRPr lang="en-US" sz="2000" dirty="0">
              <a:solidFill>
                <a:srgbClr val="FFC00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FFC000"/>
                </a:solidFill>
                <a:latin typeface="+mj-lt"/>
                <a:cs typeface="Times New Roman" panose="02020603050405020304" pitchFamily="18" charset="0"/>
              </a:rPr>
              <a:t>MR. MUHAMMAD AHMED</a:t>
            </a:r>
          </a:p>
          <a:p>
            <a:r>
              <a:rPr lang="en-US" sz="2800" b="1" dirty="0">
                <a:solidFill>
                  <a:srgbClr val="FFC000"/>
                </a:solidFill>
                <a:latin typeface="+mj-lt"/>
                <a:cs typeface="Times New Roman" panose="02020603050405020304" pitchFamily="18" charset="0"/>
              </a:rPr>
              <a:t>Department of Computer Science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5EC45-089A-7051-4C19-FC5BA1A3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C5EC-E2F9-4D06-8A59-1DAAEC341509}" type="slidenum">
              <a:rPr lang="en-US" smtClean="0"/>
              <a:t>1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B09E42-8FEB-AD47-C0E8-B29A151D79AD}"/>
              </a:ext>
            </a:extLst>
          </p:cNvPr>
          <p:cNvGrpSpPr/>
          <p:nvPr/>
        </p:nvGrpSpPr>
        <p:grpSpPr>
          <a:xfrm>
            <a:off x="1998438" y="0"/>
            <a:ext cx="3608439" cy="1311354"/>
            <a:chOff x="2700726" y="10132"/>
            <a:chExt cx="3608439" cy="1311354"/>
          </a:xfrm>
        </p:grpSpPr>
        <p:pic>
          <p:nvPicPr>
            <p:cNvPr id="10" name="Picture 9" descr="A black and white logo&#10;&#10;Description automatically generated">
              <a:extLst>
                <a:ext uri="{FF2B5EF4-FFF2-40B4-BE49-F238E27FC236}">
                  <a16:creationId xmlns:a16="http://schemas.microsoft.com/office/drawing/2014/main" id="{5522D362-1803-E0D7-4DA7-A05E2EF4D65D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5128" y="10132"/>
              <a:ext cx="2294037" cy="13075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</p:pic>
        <p:pic>
          <p:nvPicPr>
            <p:cNvPr id="12" name="Picture 11" descr="A blue and white logo&#10;&#10;Description automatically generated">
              <a:extLst>
                <a:ext uri="{FF2B5EF4-FFF2-40B4-BE49-F238E27FC236}">
                  <a16:creationId xmlns:a16="http://schemas.microsoft.com/office/drawing/2014/main" id="{83D4B9A2-189D-7071-AAEF-8C3FAE862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0726" y="10132"/>
              <a:ext cx="1311354" cy="131135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</p:pic>
      </p:grpSp>
    </p:spTree>
    <p:extLst>
      <p:ext uri="{BB962C8B-B14F-4D97-AF65-F5344CB8AC3E}">
        <p14:creationId xmlns:p14="http://schemas.microsoft.com/office/powerpoint/2010/main" val="155225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09E3-E2D9-CCCD-4D3E-7B5DE0331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273" y="1182876"/>
            <a:ext cx="8791575" cy="2387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C000"/>
                </a:solidFill>
              </a:rPr>
              <a:t>Laravel &amp; </a:t>
            </a:r>
            <a:r>
              <a:rPr lang="en-US" dirty="0" err="1" smtClean="0">
                <a:solidFill>
                  <a:srgbClr val="FFC000"/>
                </a:solidFill>
              </a:rPr>
              <a:t>mysql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8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7E91-1F4F-C1D6-7DCF-014D80A0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Lab objectives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D0D2C-3798-5FBC-B2D9-7784105A93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037714"/>
            <a:ext cx="10363826" cy="342410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Install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and configure a Laravel project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Connect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Laravel to </a:t>
            </a: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MySQL</a:t>
            </a:r>
            <a:endParaRPr lang="en-US" altLang="en-US" b="1" cap="none" dirty="0"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Create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migrations for Users and Courses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Implement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registration and login with Laravel </a:t>
            </a: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Auth (middleware)</a:t>
            </a:r>
            <a:endParaRPr lang="en-US" altLang="en-US" b="1" cap="none" dirty="0"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Allow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a logged-in user to view a Dashboard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Display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list of courses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Insert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a new </a:t>
            </a: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course and do CRUD operations</a:t>
            </a:r>
            <a:endParaRPr lang="en-US" altLang="en-US" b="1" cap="none" dirty="0"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 Demonstrate </a:t>
            </a:r>
            <a:r>
              <a:rPr lang="en-US" altLang="en-US" b="1" cap="none" dirty="0">
                <a:effectLst/>
                <a:latin typeface="Arial" panose="020B0604020202020204" pitchFamily="34" charset="0"/>
              </a:rPr>
              <a:t>MVC &amp; Eloquent ORM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2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7E91-1F4F-C1D6-7DCF-014D80A0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C000"/>
                </a:solidFill>
              </a:rPr>
              <a:t>laravel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D0D2C-3798-5FBC-B2D9-7784105A93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214694"/>
            <a:ext cx="10363826" cy="3424107"/>
          </a:xfrm>
        </p:spPr>
        <p:txBody>
          <a:bodyPr>
            <a:normAutofit/>
          </a:bodyPr>
          <a:lstStyle/>
          <a:p>
            <a:r>
              <a:rPr lang="en-US" dirty="0" smtClean="0"/>
              <a:t>Laravel </a:t>
            </a:r>
            <a:r>
              <a:rPr lang="en-US" dirty="0"/>
              <a:t>is a PHP Web </a:t>
            </a:r>
            <a:r>
              <a:rPr lang="en-US" dirty="0" smtClean="0"/>
              <a:t>Framework and was first </a:t>
            </a:r>
            <a:r>
              <a:rPr lang="en-US" dirty="0"/>
              <a:t>released in </a:t>
            </a:r>
            <a:r>
              <a:rPr lang="en-US" b="1" dirty="0">
                <a:effectLst/>
              </a:rPr>
              <a:t>June </a:t>
            </a:r>
            <a:r>
              <a:rPr lang="en-US" b="1" dirty="0" smtClean="0">
                <a:effectLst/>
              </a:rPr>
              <a:t>2011.</a:t>
            </a:r>
            <a:endParaRPr lang="en-US" dirty="0"/>
          </a:p>
          <a:p>
            <a:r>
              <a:rPr lang="en-US" dirty="0"/>
              <a:t>Follows MVC (Model–View–Controller) architecture</a:t>
            </a:r>
          </a:p>
          <a:p>
            <a:r>
              <a:rPr lang="en-US" dirty="0"/>
              <a:t>Provides clean code, security, routing, and template system</a:t>
            </a:r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0379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56EA-4697-46E8-7238-823B3959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Key Features of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24E5-C147-029B-99E7-9F6F7699FC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998125"/>
            <a:ext cx="9905999" cy="35417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Elegant &amp; Simple </a:t>
            </a:r>
            <a:r>
              <a:rPr lang="en-US" dirty="0" smtClean="0"/>
              <a:t>Syntax</a:t>
            </a:r>
          </a:p>
          <a:p>
            <a:pPr lvl="1"/>
            <a:r>
              <a:rPr lang="en-US" dirty="0" smtClean="0"/>
              <a:t>Laravel </a:t>
            </a:r>
            <a:r>
              <a:rPr lang="en-US" dirty="0"/>
              <a:t>is built to make coding easy and expressive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hides complex logic behind simple functions.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$</a:t>
            </a:r>
            <a:r>
              <a:rPr lang="en-US" dirty="0"/>
              <a:t>user = User::find(1); → gets a user in one </a:t>
            </a:r>
            <a:r>
              <a:rPr lang="en-US" dirty="0" smtClean="0"/>
              <a:t>line</a:t>
            </a:r>
          </a:p>
          <a:p>
            <a:pPr lvl="1"/>
            <a:r>
              <a:rPr lang="en-US" dirty="0" smtClean="0"/>
              <a:t>Route</a:t>
            </a:r>
            <a:r>
              <a:rPr lang="en-US" dirty="0"/>
              <a:t>::get('/', function(){ ... }); → makes routing </a:t>
            </a:r>
            <a:r>
              <a:rPr lang="en-US" dirty="0" smtClean="0"/>
              <a:t>simple</a:t>
            </a:r>
          </a:p>
          <a:p>
            <a:r>
              <a:rPr lang="en-US" dirty="0" err="1" smtClean="0"/>
              <a:t>Laravel’s</a:t>
            </a:r>
            <a:r>
              <a:rPr lang="en-US" dirty="0" smtClean="0"/>
              <a:t> </a:t>
            </a:r>
            <a:r>
              <a:rPr lang="en-US" dirty="0"/>
              <a:t>syntax feels natural, readable, and less complicated than pure PHP.</a:t>
            </a:r>
          </a:p>
        </p:txBody>
      </p:sp>
    </p:spTree>
    <p:extLst>
      <p:ext uri="{BB962C8B-B14F-4D97-AF65-F5344CB8AC3E}">
        <p14:creationId xmlns:p14="http://schemas.microsoft.com/office/powerpoint/2010/main" val="323169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56EA-4697-46E8-7238-823B3959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Key Features of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24E5-C147-029B-99E7-9F6F7699FC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998125"/>
            <a:ext cx="9905999" cy="354171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Powerful </a:t>
            </a:r>
            <a:r>
              <a:rPr lang="en-US" b="1" dirty="0" smtClean="0"/>
              <a:t>Routing</a:t>
            </a:r>
          </a:p>
          <a:p>
            <a:pPr lvl="1"/>
            <a:r>
              <a:rPr lang="en-US" dirty="0" smtClean="0"/>
              <a:t>Routing </a:t>
            </a:r>
            <a:r>
              <a:rPr lang="en-US" dirty="0"/>
              <a:t>decides which URL opens which function/page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Laravel </a:t>
            </a:r>
            <a:r>
              <a:rPr lang="en-US" dirty="0"/>
              <a:t>uses a clean </a:t>
            </a:r>
            <a:r>
              <a:rPr lang="en-US" dirty="0" smtClean="0"/>
              <a:t>and </a:t>
            </a:r>
            <a:r>
              <a:rPr lang="en-US" dirty="0"/>
              <a:t>powerful routing system in routes/</a:t>
            </a:r>
            <a:r>
              <a:rPr lang="en-US" dirty="0" err="1"/>
              <a:t>web.php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effectLst/>
              </a:rPr>
              <a:t>LAB 11 routes</a:t>
            </a:r>
          </a:p>
          <a:p>
            <a:pPr lvl="2"/>
            <a:r>
              <a:rPr lang="en-US" dirty="0" smtClean="0">
                <a:effectLst/>
              </a:rPr>
              <a:t>/DASHBOARD ROUTE</a:t>
            </a:r>
          </a:p>
          <a:p>
            <a:pPr lvl="2"/>
            <a:r>
              <a:rPr lang="en-US" dirty="0" smtClean="0">
                <a:effectLst/>
              </a:rPr>
              <a:t>/PROFILE </a:t>
            </a:r>
            <a:r>
              <a:rPr lang="en-US" dirty="0">
                <a:effectLst/>
              </a:rPr>
              <a:t>ROUTES (Breeze default)</a:t>
            </a:r>
          </a:p>
          <a:p>
            <a:pPr lvl="2"/>
            <a:r>
              <a:rPr lang="en-US" dirty="0" smtClean="0">
                <a:effectLst/>
              </a:rPr>
              <a:t>/COURSE </a:t>
            </a:r>
            <a:r>
              <a:rPr lang="en-US" dirty="0">
                <a:effectLst/>
              </a:rPr>
              <a:t>ROUTES (LMS</a:t>
            </a:r>
            <a:r>
              <a:rPr lang="en-US" dirty="0" smtClean="0">
                <a:effectLst/>
              </a:rPr>
              <a:t>)</a:t>
            </a:r>
          </a:p>
          <a:p>
            <a:pPr marL="457200" lvl="1" indent="0" algn="ctr">
              <a:buNone/>
            </a:pPr>
            <a:endParaRPr lang="en-US" b="1" dirty="0" smtClean="0">
              <a:solidFill>
                <a:schemeClr val="accent3">
                  <a:lumMod val="60000"/>
                  <a:lumOff val="40000"/>
                </a:schemeClr>
              </a:solidFill>
              <a:effectLst/>
            </a:endParaRPr>
          </a:p>
          <a:p>
            <a:pPr marL="457200" lvl="1" indent="0" algn="ctr">
              <a:buNone/>
            </a:pPr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“Route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::get('/courses', [</a:t>
            </a:r>
            <a:r>
              <a:rPr lang="en-US" b="1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CourseController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::class, 'index'])-&gt;name('courses</a:t>
            </a:r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');”</a:t>
            </a:r>
            <a:endParaRPr lang="en-US" b="1" dirty="0" smtClean="0"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effectLst/>
              </a:rPr>
              <a:t> When </a:t>
            </a:r>
            <a:r>
              <a:rPr lang="en-US" dirty="0">
                <a:effectLst/>
              </a:rPr>
              <a:t>the user visits</a:t>
            </a:r>
            <a:r>
              <a:rPr lang="en-US" dirty="0" smtClean="0">
                <a:effectLst/>
              </a:rPr>
              <a:t>: http</a:t>
            </a:r>
            <a:r>
              <a:rPr lang="en-US" dirty="0">
                <a:effectLst/>
              </a:rPr>
              <a:t>://</a:t>
            </a:r>
            <a:r>
              <a:rPr lang="en-US" dirty="0" smtClean="0">
                <a:effectLst/>
              </a:rPr>
              <a:t>127.0.0.1:8000/courses</a:t>
            </a:r>
          </a:p>
          <a:p>
            <a:pPr lvl="1"/>
            <a:r>
              <a:rPr lang="en-US" dirty="0" err="1" smtClean="0">
                <a:effectLst/>
              </a:rPr>
              <a:t>Laravel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sends the request </a:t>
            </a:r>
            <a:r>
              <a:rPr lang="en-US" dirty="0" smtClean="0">
                <a:effectLst/>
              </a:rPr>
              <a:t>to : </a:t>
            </a:r>
            <a:r>
              <a:rPr lang="en-US" dirty="0" err="1" smtClean="0">
                <a:effectLst/>
              </a:rPr>
              <a:t>CourseController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→ index() </a:t>
            </a:r>
            <a:r>
              <a:rPr lang="en-US" dirty="0" smtClean="0">
                <a:effectLst/>
              </a:rPr>
              <a:t>method.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97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56EA-4697-46E8-7238-823B3959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Key Features of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24E5-C147-029B-99E7-9F6F7699FC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998125"/>
            <a:ext cx="9905999" cy="3541714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Controller:</a:t>
            </a:r>
            <a:r>
              <a:rPr lang="en-US" dirty="0" smtClean="0"/>
              <a:t> </a:t>
            </a:r>
            <a:r>
              <a:rPr lang="en-US" dirty="0"/>
              <a:t>Controllers contain the logic — they decide what to do with data</a:t>
            </a:r>
            <a:r>
              <a:rPr lang="en-US" dirty="0" smtClean="0"/>
              <a:t>. (CRUD)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MODEL </a:t>
            </a:r>
            <a:r>
              <a:rPr lang="en-US" b="1" dirty="0" smtClean="0"/>
              <a:t>: </a:t>
            </a:r>
            <a:r>
              <a:rPr lang="en-US" dirty="0" smtClean="0"/>
              <a:t> </a:t>
            </a:r>
            <a:r>
              <a:rPr lang="en-US" dirty="0" err="1"/>
              <a:t>Laravel</a:t>
            </a:r>
            <a:r>
              <a:rPr lang="en-US" dirty="0"/>
              <a:t> to the </a:t>
            </a:r>
            <a:r>
              <a:rPr lang="en-US" b="1" dirty="0"/>
              <a:t>database table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class Course extends Model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{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protected $fillable = [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'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course_name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',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'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course_code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',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'description'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];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81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56EA-4697-46E8-7238-823B3959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Key Features of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24E5-C147-029B-99E7-9F6F7699FC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998125"/>
            <a:ext cx="9905999" cy="35417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Eloquent </a:t>
            </a:r>
            <a:r>
              <a:rPr lang="en-US" b="1" dirty="0"/>
              <a:t>ORM (Object-Relational Mapping)</a:t>
            </a:r>
          </a:p>
          <a:p>
            <a:pPr lvl="1"/>
            <a:r>
              <a:rPr lang="en-US" dirty="0"/>
              <a:t>Eloquent is </a:t>
            </a:r>
            <a:r>
              <a:rPr lang="en-US" dirty="0" err="1"/>
              <a:t>Laravel’s</a:t>
            </a:r>
            <a:r>
              <a:rPr lang="en-US" dirty="0"/>
              <a:t> tool to interact with the database using Models instead of SQL queries.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Example Instead of writing </a:t>
            </a:r>
          </a:p>
          <a:p>
            <a:pPr lvl="2"/>
            <a:r>
              <a:rPr lang="en-US" dirty="0"/>
              <a:t>SQL: “</a:t>
            </a:r>
            <a:r>
              <a:rPr lang="en-US" b="1" dirty="0"/>
              <a:t>SELECT * FROM students;”</a:t>
            </a:r>
          </a:p>
          <a:p>
            <a:pPr lvl="2"/>
            <a:r>
              <a:rPr lang="en-US" dirty="0"/>
              <a:t>You write </a:t>
            </a:r>
            <a:r>
              <a:rPr lang="en-US" b="1" dirty="0"/>
              <a:t>“Student::all</a:t>
            </a:r>
            <a:r>
              <a:rPr lang="en-US" b="1" dirty="0" smtClean="0"/>
              <a:t>();”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Migration &amp; Seeding</a:t>
            </a:r>
          </a:p>
          <a:p>
            <a:pPr lvl="1"/>
            <a:r>
              <a:rPr lang="en-US" sz="1600" dirty="0"/>
              <a:t>Migration: They are like version control for your database.</a:t>
            </a:r>
          </a:p>
          <a:p>
            <a:pPr lvl="1"/>
            <a:r>
              <a:rPr lang="en-US" sz="1600" dirty="0"/>
              <a:t>Seeders: insert dummy/testing data into the database.</a:t>
            </a:r>
          </a:p>
          <a:p>
            <a:pPr lvl="2"/>
            <a:endParaRPr lang="en-US" b="1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6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56EA-4697-46E8-7238-823B3959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Key Features of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24E5-C147-029B-99E7-9F6F7699FC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998125"/>
            <a:ext cx="9905999" cy="35417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Blade </a:t>
            </a:r>
            <a:r>
              <a:rPr lang="en-US" b="1" dirty="0" err="1"/>
              <a:t>Templating</a:t>
            </a:r>
            <a:r>
              <a:rPr lang="en-US" b="1" dirty="0"/>
              <a:t> </a:t>
            </a:r>
            <a:r>
              <a:rPr lang="en-US" b="1" dirty="0" smtClean="0"/>
              <a:t>Engine</a:t>
            </a:r>
          </a:p>
          <a:p>
            <a:pPr lvl="1"/>
            <a:r>
              <a:rPr lang="en-US" dirty="0" smtClean="0"/>
              <a:t>Blade </a:t>
            </a:r>
            <a:r>
              <a:rPr lang="en-US" dirty="0"/>
              <a:t>is </a:t>
            </a:r>
            <a:r>
              <a:rPr lang="en-US" dirty="0" err="1"/>
              <a:t>Laravel’s</a:t>
            </a:r>
            <a:r>
              <a:rPr lang="en-US" dirty="0"/>
              <a:t> built-in template engine used in the </a:t>
            </a:r>
            <a:r>
              <a:rPr lang="en-US" b="1" dirty="0"/>
              <a:t>resources/views</a:t>
            </a:r>
            <a:r>
              <a:rPr lang="en-US" dirty="0"/>
              <a:t> folder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Blade helps you build front-end pages faster and more cleanly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Built-in Authentication</a:t>
            </a:r>
          </a:p>
          <a:p>
            <a:pPr lvl="1"/>
            <a:r>
              <a:rPr lang="en-US" sz="1600" dirty="0"/>
              <a:t>Laravel has ready-made login, registration, password reset, and email verification</a:t>
            </a:r>
            <a:r>
              <a:rPr lang="en-US" sz="1600" dirty="0" smtClean="0"/>
              <a:t>. (middleware).</a:t>
            </a:r>
          </a:p>
          <a:p>
            <a:pPr lvl="1"/>
            <a:endParaRPr lang="en-US" sz="1600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24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56EA-4697-46E8-7238-823B3959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Key Features of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24E5-C147-029B-99E7-9F6F7699FC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998125"/>
            <a:ext cx="9905999" cy="354171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Artisan CLI (Command-Line Interface)</a:t>
            </a:r>
          </a:p>
          <a:p>
            <a:pPr lvl="1"/>
            <a:r>
              <a:rPr lang="en-US" dirty="0"/>
              <a:t>Artisan is </a:t>
            </a:r>
            <a:r>
              <a:rPr lang="en-US" dirty="0" err="1"/>
              <a:t>Laravel’s</a:t>
            </a:r>
            <a:r>
              <a:rPr lang="en-US" dirty="0"/>
              <a:t> command tool that automates repetitive tasks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r>
              <a:rPr lang="en-US" dirty="0"/>
              <a:t>✔ Creating files</a:t>
            </a:r>
            <a:br>
              <a:rPr lang="en-US" dirty="0"/>
            </a:br>
            <a:r>
              <a:rPr lang="en-US" dirty="0"/>
              <a:t>✔ Running migrations</a:t>
            </a:r>
            <a:br>
              <a:rPr lang="en-US" dirty="0"/>
            </a:br>
            <a:r>
              <a:rPr lang="en-US" dirty="0"/>
              <a:t>✔ Clearing cache</a:t>
            </a:r>
            <a:br>
              <a:rPr lang="en-US" dirty="0"/>
            </a:br>
            <a:r>
              <a:rPr lang="en-US" dirty="0"/>
              <a:t>✔ Running the server</a:t>
            </a:r>
            <a:br>
              <a:rPr lang="en-US" dirty="0"/>
            </a:br>
            <a:r>
              <a:rPr lang="en-US" dirty="0"/>
              <a:t>✔ Generating code</a:t>
            </a:r>
            <a:br>
              <a:rPr lang="en-US" dirty="0"/>
            </a:br>
            <a:r>
              <a:rPr lang="en-US" dirty="0"/>
              <a:t>✔ Managing databases</a:t>
            </a:r>
            <a:br>
              <a:rPr lang="en-US" dirty="0"/>
            </a:br>
            <a:r>
              <a:rPr lang="en-US" dirty="0"/>
              <a:t>✔ Managing authentication</a:t>
            </a:r>
            <a:br>
              <a:rPr lang="en-US" dirty="0"/>
            </a:br>
            <a:r>
              <a:rPr lang="en-US" dirty="0"/>
              <a:t>✔ Checking routes</a:t>
            </a:r>
          </a:p>
          <a:p>
            <a:pPr lvl="1"/>
            <a:endParaRPr lang="en-US" dirty="0"/>
          </a:p>
          <a:p>
            <a:pPr lvl="1"/>
            <a:endParaRPr lang="en-US" sz="1600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1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56EA-4697-46E8-7238-823B3959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C000"/>
                </a:solidFill>
              </a:rPr>
              <a:t>Mysql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24E5-C147-029B-99E7-9F6F7699FC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998125"/>
            <a:ext cx="9905999" cy="354171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MySQL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is an open-source relational database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Stores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data in tables (rows + columns)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Fast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, reliable, widely used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Works perfectly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with PHP &amp; </a:t>
            </a: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Laravel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 smtClean="0"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Why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Use MySQL with Laravel</a:t>
            </a: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?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Laravel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supports MySQL out of the </a:t>
            </a: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box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Easy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to connect using .</a:t>
            </a:r>
            <a:r>
              <a:rPr lang="en-US" altLang="en-US" cap="none" dirty="0" err="1">
                <a:effectLst/>
                <a:latin typeface="Arial" panose="020B0604020202020204" pitchFamily="34" charset="0"/>
              </a:rPr>
              <a:t>env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file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Eloquent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ORM works smoothly with </a:t>
            </a: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MySQL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Perfect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combination for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0016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5022-375B-3D76-B846-FEE44B04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FFC000"/>
                </a:solidFill>
              </a:rPr>
              <a:t>Installation of </a:t>
            </a:r>
            <a:r>
              <a:rPr lang="en-US" dirty="0" err="1" smtClean="0">
                <a:solidFill>
                  <a:srgbClr val="FFC000"/>
                </a:solidFill>
              </a:rPr>
              <a:t>xampp</a:t>
            </a:r>
            <a:r>
              <a:rPr lang="en-US" dirty="0" smtClean="0">
                <a:solidFill>
                  <a:srgbClr val="FFC000"/>
                </a:solidFill>
              </a:rPr>
              <a:t> and setup of </a:t>
            </a:r>
            <a:r>
              <a:rPr lang="en-US" dirty="0" err="1" smtClean="0">
                <a:solidFill>
                  <a:srgbClr val="FFC000"/>
                </a:solidFill>
              </a:rPr>
              <a:t>laravel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CBBFA-C3D3-5D23-F342-1924A19D96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128640"/>
            <a:ext cx="10530973" cy="399194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b="1" dirty="0" smtClean="0"/>
              <a:t>STEP 1: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Requirements </a:t>
            </a:r>
            <a:r>
              <a:rPr lang="en-US" b="1" dirty="0"/>
              <a:t>to Install Laravel</a:t>
            </a:r>
          </a:p>
          <a:p>
            <a:pPr lvl="1"/>
            <a:r>
              <a:rPr lang="en-US" dirty="0"/>
              <a:t>PHP 8+</a:t>
            </a:r>
          </a:p>
          <a:p>
            <a:pPr lvl="1"/>
            <a:r>
              <a:rPr lang="en-US" dirty="0"/>
              <a:t>Composer (Dependency Manager): Visit: </a:t>
            </a:r>
            <a:r>
              <a:rPr lang="en-US" b="1" dirty="0"/>
              <a:t>getcomposer.org</a:t>
            </a:r>
            <a:endParaRPr lang="en-US" dirty="0" smtClean="0"/>
          </a:p>
          <a:p>
            <a:pPr lvl="1"/>
            <a:r>
              <a:rPr lang="en-US" dirty="0"/>
              <a:t>XAMPP/WAMP </a:t>
            </a:r>
            <a:r>
              <a:rPr lang="en-US" b="1" dirty="0"/>
              <a:t>or</a:t>
            </a:r>
            <a:r>
              <a:rPr lang="en-US" dirty="0"/>
              <a:t> PHP + MySQL </a:t>
            </a:r>
            <a:r>
              <a:rPr lang="en-US" dirty="0" smtClean="0"/>
              <a:t>manually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Install </a:t>
            </a:r>
            <a:r>
              <a:rPr lang="en-US" dirty="0" smtClean="0"/>
              <a:t>XAMPP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Download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from: </a:t>
            </a:r>
            <a:r>
              <a:rPr lang="en-US" altLang="en-US" b="1" cap="none" dirty="0" smtClean="0">
                <a:effectLst/>
                <a:latin typeface="Arial" panose="020B0604020202020204" pitchFamily="34" charset="0"/>
              </a:rPr>
              <a:t>apachefriends.org &amp; install</a:t>
            </a:r>
            <a:endParaRPr lang="en-US" altLang="en-US" cap="none" dirty="0"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Includes: Apache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Web </a:t>
            </a: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Server, PHP, MySQL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 Set environmental path. </a:t>
            </a:r>
            <a:r>
              <a:rPr lang="en-US" altLang="en-US" cap="none" dirty="0">
                <a:effectLst/>
                <a:latin typeface="Arial" panose="020B0604020202020204" pitchFamily="34" charset="0"/>
              </a:rPr>
              <a:t>C</a:t>
            </a:r>
            <a:r>
              <a:rPr lang="en-US" altLang="en-US" cap="none" dirty="0" smtClean="0">
                <a:effectLst/>
                <a:latin typeface="Arial" panose="020B0604020202020204" pitchFamily="34" charset="0"/>
              </a:rPr>
              <a:t>:/xampp/php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cap="none" dirty="0" smtClean="0"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dirty="0" smtClean="0"/>
              <a:t>Additionally: 7-zip for </a:t>
            </a:r>
            <a:r>
              <a:rPr lang="en-US" dirty="0" err="1" smtClean="0"/>
              <a:t>laravel</a:t>
            </a:r>
            <a:r>
              <a:rPr lang="en-US" dirty="0" smtClean="0"/>
              <a:t> extracting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5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0CDF-0739-06DD-6455-8A6C1F41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setup of </a:t>
            </a:r>
            <a:r>
              <a:rPr lang="en-US" dirty="0" err="1">
                <a:solidFill>
                  <a:srgbClr val="FFC000"/>
                </a:solidFill>
              </a:rPr>
              <a:t>laravel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FA15-8D0C-AC5A-5C67-BA04732279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2123" y="1966407"/>
            <a:ext cx="10486103" cy="3770715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b="1" dirty="0" smtClean="0"/>
              <a:t>STEP 2: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Now open VS code and Install </a:t>
            </a:r>
            <a:r>
              <a:rPr lang="en-US" b="1" dirty="0"/>
              <a:t>Laravel directly inside that </a:t>
            </a:r>
            <a:r>
              <a:rPr lang="en-US" b="1" dirty="0" smtClean="0"/>
              <a:t>folder (it will take time)</a:t>
            </a:r>
          </a:p>
          <a:p>
            <a:pPr lvl="1"/>
            <a:r>
              <a:rPr lang="en-US" dirty="0" smtClean="0"/>
              <a:t>In the terminal : ‘composer </a:t>
            </a:r>
            <a:r>
              <a:rPr lang="en-US" dirty="0"/>
              <a:t>create-project </a:t>
            </a:r>
            <a:r>
              <a:rPr lang="en-US" dirty="0" err="1" smtClean="0"/>
              <a:t>laravel</a:t>
            </a:r>
            <a:r>
              <a:rPr lang="en-US" dirty="0" smtClean="0"/>
              <a:t>/LMS’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Folder Structure </a:t>
            </a:r>
          </a:p>
          <a:p>
            <a:pPr lvl="1"/>
            <a:r>
              <a:rPr lang="en-US" dirty="0" smtClean="0"/>
              <a:t>Overview/app </a:t>
            </a:r>
            <a:r>
              <a:rPr lang="en-US" dirty="0"/>
              <a:t>→ Controllers, </a:t>
            </a:r>
            <a:r>
              <a:rPr lang="en-US" dirty="0" smtClean="0"/>
              <a:t>Models</a:t>
            </a:r>
          </a:p>
          <a:p>
            <a:pPr lvl="1"/>
            <a:r>
              <a:rPr lang="en-US" dirty="0" smtClean="0"/>
              <a:t>/routes/</a:t>
            </a:r>
            <a:r>
              <a:rPr lang="en-US" dirty="0" err="1" smtClean="0"/>
              <a:t>web.php</a:t>
            </a:r>
            <a:r>
              <a:rPr lang="en-US" dirty="0" smtClean="0"/>
              <a:t> </a:t>
            </a:r>
            <a:r>
              <a:rPr lang="en-US" dirty="0"/>
              <a:t>→ Web </a:t>
            </a:r>
            <a:r>
              <a:rPr lang="en-US" dirty="0" smtClean="0"/>
              <a:t>Routes</a:t>
            </a:r>
          </a:p>
          <a:p>
            <a:pPr lvl="1"/>
            <a:r>
              <a:rPr lang="en-US" dirty="0" smtClean="0"/>
              <a:t>/resources/views </a:t>
            </a:r>
            <a:r>
              <a:rPr lang="en-US" dirty="0"/>
              <a:t>→ </a:t>
            </a:r>
            <a:r>
              <a:rPr lang="en-US" dirty="0" smtClean="0"/>
              <a:t>Blade Templates</a:t>
            </a:r>
          </a:p>
          <a:p>
            <a:pPr lvl="1"/>
            <a:r>
              <a:rPr lang="en-US" dirty="0" smtClean="0"/>
              <a:t>/</a:t>
            </a:r>
            <a:r>
              <a:rPr lang="en-US" dirty="0"/>
              <a:t>database → Migrations, </a:t>
            </a:r>
            <a:r>
              <a:rPr lang="en-US" dirty="0" smtClean="0"/>
              <a:t>Seeds</a:t>
            </a:r>
          </a:p>
          <a:p>
            <a:pPr lvl="1"/>
            <a:r>
              <a:rPr lang="en-US" dirty="0" err="1" smtClean="0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22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FA15-8D0C-AC5A-5C67-BA04732279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128640"/>
            <a:ext cx="10363826" cy="342410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STEP 3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 smtClean="0"/>
              <a:t>Goto</a:t>
            </a:r>
            <a:r>
              <a:rPr lang="en-US" dirty="0" smtClean="0"/>
              <a:t> :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localhost/phpmyadmin</a:t>
            </a:r>
            <a:r>
              <a:rPr lang="en-US" dirty="0" smtClean="0"/>
              <a:t> or from apache </a:t>
            </a:r>
            <a:r>
              <a:rPr lang="en-US" dirty="0" err="1" smtClean="0"/>
              <a:t>goto</a:t>
            </a:r>
            <a:r>
              <a:rPr lang="en-US" dirty="0" smtClean="0"/>
              <a:t> </a:t>
            </a:r>
            <a:r>
              <a:rPr lang="en-US" dirty="0" err="1" smtClean="0"/>
              <a:t>mysql</a:t>
            </a:r>
            <a:r>
              <a:rPr lang="en-US" dirty="0" smtClean="0"/>
              <a:t> “admin”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Create : </a:t>
            </a:r>
            <a:r>
              <a:rPr lang="en-US" dirty="0" err="1"/>
              <a:t>lms_lab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Then </a:t>
            </a:r>
            <a:r>
              <a:rPr lang="en-US" dirty="0" err="1" smtClean="0"/>
              <a:t>opeN</a:t>
            </a:r>
            <a:r>
              <a:rPr lang="en-US" dirty="0" smtClean="0"/>
              <a:t>: </a:t>
            </a:r>
            <a:r>
              <a:rPr lang="en-US" dirty="0"/>
              <a:t>E:\NBC\Course and Labs\2. Web engineering - LAB (7th semester)\LAB 11\</a:t>
            </a:r>
            <a:r>
              <a:rPr lang="en-US" dirty="0" err="1"/>
              <a:t>lms_lab</a:t>
            </a:r>
            <a:r>
              <a:rPr lang="en-US" dirty="0"/>
              <a:t>\.</a:t>
            </a:r>
            <a:r>
              <a:rPr lang="en-US" dirty="0" err="1"/>
              <a:t>env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Set Db </a:t>
            </a:r>
            <a:r>
              <a:rPr lang="en-US" dirty="0" err="1" smtClean="0"/>
              <a:t>config</a:t>
            </a:r>
            <a:r>
              <a:rPr lang="en-US" dirty="0" smtClean="0"/>
              <a:t>: </a:t>
            </a:r>
          </a:p>
          <a:p>
            <a:pPr lvl="2"/>
            <a:r>
              <a:rPr lang="en-US" dirty="0"/>
              <a:t>DB_CONNECTION=</a:t>
            </a:r>
            <a:r>
              <a:rPr lang="en-US" dirty="0" err="1"/>
              <a:t>mysql</a:t>
            </a:r>
            <a:endParaRPr lang="en-US" dirty="0"/>
          </a:p>
          <a:p>
            <a:pPr lvl="2"/>
            <a:r>
              <a:rPr lang="en-US" dirty="0"/>
              <a:t>DB_HOST=127.0.0.1</a:t>
            </a:r>
          </a:p>
          <a:p>
            <a:pPr lvl="2"/>
            <a:r>
              <a:rPr lang="en-US" dirty="0"/>
              <a:t>DB_PORT=3306</a:t>
            </a:r>
          </a:p>
          <a:p>
            <a:pPr lvl="2"/>
            <a:r>
              <a:rPr lang="en-US" dirty="0"/>
              <a:t>DB_DATABASE=</a:t>
            </a:r>
            <a:r>
              <a:rPr lang="en-US" dirty="0" err="1"/>
              <a:t>lms_lab</a:t>
            </a:r>
            <a:endParaRPr lang="en-US" dirty="0"/>
          </a:p>
          <a:p>
            <a:pPr lvl="2"/>
            <a:r>
              <a:rPr lang="en-US" dirty="0"/>
              <a:t>DB_USERNAME=root</a:t>
            </a:r>
          </a:p>
          <a:p>
            <a:pPr lvl="2"/>
            <a:r>
              <a:rPr lang="en-US" dirty="0"/>
              <a:t>DB_PASSWORD</a:t>
            </a:r>
            <a:r>
              <a:rPr lang="en-US" dirty="0" smtClean="0"/>
              <a:t>= “do not put password”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marL="201168" lvl="1" indent="0">
              <a:buNone/>
            </a:pPr>
            <a:endParaRPr lang="en-US" b="1" i="1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3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C000"/>
                </a:solidFill>
              </a:rPr>
              <a:t>Mysql</a:t>
            </a:r>
            <a:r>
              <a:rPr lang="en-US" dirty="0" smtClean="0">
                <a:solidFill>
                  <a:srgbClr val="FFC000"/>
                </a:solidFill>
              </a:rPr>
              <a:t> setup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31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5022-375B-3D76-B846-FEE44B04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FFC000"/>
                </a:solidFill>
              </a:rPr>
              <a:t>Start </a:t>
            </a:r>
            <a:r>
              <a:rPr lang="en-US" dirty="0" err="1" smtClean="0">
                <a:solidFill>
                  <a:srgbClr val="FFC000"/>
                </a:solidFill>
              </a:rPr>
              <a:t>larvael</a:t>
            </a:r>
            <a:r>
              <a:rPr lang="en-US" dirty="0" smtClean="0">
                <a:solidFill>
                  <a:srgbClr val="FFC000"/>
                </a:solidFill>
              </a:rPr>
              <a:t> project and install breeze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CBBFA-C3D3-5D23-F342-1924A19D96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128640"/>
            <a:ext cx="10486728" cy="3903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STEP 3: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Start </a:t>
            </a:r>
            <a:r>
              <a:rPr lang="en-US" dirty="0"/>
              <a:t>the Laravel </a:t>
            </a:r>
            <a:r>
              <a:rPr lang="en-US" dirty="0" smtClean="0"/>
              <a:t>Server</a:t>
            </a:r>
          </a:p>
          <a:p>
            <a:pPr lvl="2"/>
            <a:r>
              <a:rPr lang="en-US" dirty="0" err="1"/>
              <a:t>php</a:t>
            </a:r>
            <a:r>
              <a:rPr lang="en-US" dirty="0"/>
              <a:t> artisan </a:t>
            </a:r>
            <a:r>
              <a:rPr lang="en-US" dirty="0" smtClean="0"/>
              <a:t>serve (terminal)</a:t>
            </a:r>
          </a:p>
          <a:p>
            <a:pPr lvl="2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127.0.0.1:8000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Install Laravel Breeze (For Login &amp; Register</a:t>
            </a:r>
            <a:r>
              <a:rPr lang="en-US" dirty="0" smtClean="0"/>
              <a:t>)</a:t>
            </a:r>
          </a:p>
          <a:p>
            <a:pPr lvl="2"/>
            <a:r>
              <a:rPr lang="en-US" dirty="0"/>
              <a:t>composer require </a:t>
            </a:r>
            <a:r>
              <a:rPr lang="en-US" dirty="0" err="1"/>
              <a:t>laravel</a:t>
            </a:r>
            <a:r>
              <a:rPr lang="en-US" dirty="0"/>
              <a:t>/breeze </a:t>
            </a:r>
            <a:r>
              <a:rPr lang="en-US" dirty="0" smtClean="0"/>
              <a:t>–dev</a:t>
            </a:r>
          </a:p>
          <a:p>
            <a:pPr lvl="3"/>
            <a:r>
              <a:rPr lang="en-US" dirty="0" smtClean="0"/>
              <a:t>Select breeze and then select </a:t>
            </a:r>
            <a:r>
              <a:rPr lang="en-US" dirty="0" err="1" smtClean="0"/>
              <a:t>phpunit</a:t>
            </a:r>
            <a:endParaRPr lang="en-US" dirty="0"/>
          </a:p>
          <a:p>
            <a:pPr lvl="2"/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install</a:t>
            </a:r>
          </a:p>
          <a:p>
            <a:pPr lvl="2"/>
            <a:r>
              <a:rPr lang="en-US" dirty="0" err="1"/>
              <a:t>npm</a:t>
            </a:r>
            <a:r>
              <a:rPr lang="en-US" dirty="0"/>
              <a:t> run build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97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5022-375B-3D76-B846-FEE44B04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C000"/>
                </a:solidFill>
              </a:rPr>
              <a:t>Laravel</a:t>
            </a:r>
            <a:r>
              <a:rPr lang="en-US" dirty="0" smtClean="0">
                <a:solidFill>
                  <a:srgbClr val="FFC000"/>
                </a:solidFill>
              </a:rPr>
              <a:t> &amp; </a:t>
            </a:r>
            <a:r>
              <a:rPr lang="en-US" dirty="0" err="1" smtClean="0">
                <a:solidFill>
                  <a:srgbClr val="FFC000"/>
                </a:solidFill>
              </a:rPr>
              <a:t>Mysql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CBBFA-C3D3-5D23-F342-1924A19D96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128640"/>
            <a:ext cx="10363826" cy="34241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Step 4: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First Create </a:t>
            </a:r>
            <a:r>
              <a:rPr lang="en-US" dirty="0"/>
              <a:t>Courses Table (Migration</a:t>
            </a:r>
            <a:r>
              <a:rPr lang="en-US" dirty="0" smtClean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Then Create </a:t>
            </a:r>
            <a:r>
              <a:rPr lang="en-US" dirty="0"/>
              <a:t>Course </a:t>
            </a:r>
            <a:r>
              <a:rPr lang="en-US" dirty="0" smtClean="0"/>
              <a:t>Model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Create Course </a:t>
            </a:r>
            <a:r>
              <a:rPr lang="en-US" dirty="0" smtClean="0"/>
              <a:t>Controller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Create </a:t>
            </a:r>
            <a:r>
              <a:rPr lang="en-US" dirty="0" smtClean="0"/>
              <a:t>Routes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Create Course View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2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47CDF-AB64-C5C4-DF9A-CAFFEF58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BFD4-1F83-8E2C-43A2-7BC837CD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LAB TASKS </a:t>
            </a:r>
            <a:r>
              <a:rPr lang="en-US" dirty="0" smtClean="0">
                <a:solidFill>
                  <a:srgbClr val="FF0000"/>
                </a:solidFill>
              </a:rPr>
              <a:t>for lab 11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4EC8A-648F-B520-2A2C-471C0E914D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037714"/>
            <a:ext cx="10735919" cy="3829846"/>
          </a:xfrm>
        </p:spPr>
        <p:txBody>
          <a:bodyPr>
            <a:normAutofit lnSpcReduction="10000"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dirty="0"/>
              <a:t>In this lab, students will build a Mini Learning Management System (Mini-LMS) using </a:t>
            </a:r>
            <a:r>
              <a:rPr lang="en-US" dirty="0" err="1"/>
              <a:t>Laravel</a:t>
            </a:r>
            <a:r>
              <a:rPr lang="en-US" dirty="0"/>
              <a:t> and MySQL.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Students will begin by installing and configuring </a:t>
            </a:r>
            <a:r>
              <a:rPr lang="en-US" dirty="0" err="1"/>
              <a:t>Laravel</a:t>
            </a:r>
            <a:r>
              <a:rPr lang="en-US" dirty="0"/>
              <a:t>, setting up the project environment, and connecting the application to a MySQL database.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Students will install </a:t>
            </a:r>
            <a:r>
              <a:rPr lang="en-US" dirty="0" err="1"/>
              <a:t>Laravel</a:t>
            </a:r>
            <a:r>
              <a:rPr lang="en-US" dirty="0"/>
              <a:t> Breeze to enable full user authentication, including login and registration.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After authentication is set up, students will create a Course Management Module inside the Mini-LMS.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Students must create migrations, models, controllers, and views for adding, editing, viewing, and deleting courses.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Course management pages must be accessible only to authenticated users.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29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3720</TotalTime>
  <Words>893</Words>
  <Application>Microsoft Office PowerPoint</Application>
  <PresentationFormat>Widescreen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Tw Cen MT</vt:lpstr>
      <vt:lpstr>Wingdings</vt:lpstr>
      <vt:lpstr>Droplet</vt:lpstr>
      <vt:lpstr>Web engineering</vt:lpstr>
      <vt:lpstr>Laravel &amp; mysql</vt:lpstr>
      <vt:lpstr>Lab objectives</vt:lpstr>
      <vt:lpstr>laravel</vt:lpstr>
      <vt:lpstr>Key Features of Laravel</vt:lpstr>
      <vt:lpstr>Key Features of Laravel</vt:lpstr>
      <vt:lpstr>Key Features of Laravel</vt:lpstr>
      <vt:lpstr>Key Features of Laravel</vt:lpstr>
      <vt:lpstr>Key Features of Laravel</vt:lpstr>
      <vt:lpstr>Key Features of Laravel</vt:lpstr>
      <vt:lpstr>Mysql</vt:lpstr>
      <vt:lpstr>Installation of xampp and setup of laravel </vt:lpstr>
      <vt:lpstr>setup of laravel</vt:lpstr>
      <vt:lpstr>Mysql setup</vt:lpstr>
      <vt:lpstr>Start larvael project and install breeze </vt:lpstr>
      <vt:lpstr>Laravel &amp; Mysql  </vt:lpstr>
      <vt:lpstr>LAB TASKS for lab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engineering</dc:title>
  <dc:creator>Bc 180203360</dc:creator>
  <cp:lastModifiedBy>Ahmed</cp:lastModifiedBy>
  <cp:revision>343</cp:revision>
  <dcterms:created xsi:type="dcterms:W3CDTF">2025-09-23T15:15:56Z</dcterms:created>
  <dcterms:modified xsi:type="dcterms:W3CDTF">2025-11-27T08:08:30Z</dcterms:modified>
</cp:coreProperties>
</file>